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C5A78"/>
                </a:solidFill>
                <a:latin typeface="Aptos"/>
              </a:rPr>
              <a:t>UNIT 20 • APPLIED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583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9232D"/>
                </a:solidFill>
                <a:latin typeface="Aptos"/>
              </a:rPr>
              <a:t>Fantasy Bazaar
Comics Unmasked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51460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470"/>
                </a:solidFill>
                <a:latin typeface="Aptos"/>
              </a:rPr>
              <a:t>SOLID OOP • design patterns • real-data validation • automated 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34440"/>
            <a:ext cx="3520440" cy="13258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344168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REAL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801368"/>
            <a:ext cx="32461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57,746 records view
117,873 names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788920"/>
            <a:ext cx="3520440" cy="13258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898648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FINAL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3355848"/>
            <a:ext cx="32461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33 / 33 tests passing
5 official CSV views validated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343400"/>
            <a:ext cx="3520440" cy="13258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4453128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DESIGN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910328"/>
            <a:ext cx="32461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Repository + Strategy + Factory
role-aware domain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897880"/>
            <a:ext cx="6583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A requirement-led implementation—not SOLID for its own sake.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01 •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What problem is the application solving?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6128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The project turns a large catalogue dataset into a maintainable, testable desktop/CLI application.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306324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British Library Comics Unmasked
2022 researcher-format CSV package
Five linked/faceted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95728"/>
            <a:ext cx="306324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Load → model → aggregate → search
Group by author/year
Sort A–Z / Z–A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395728"/>
            <a:ext cx="306324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User-facing catalogue records
Advanced search
Reports + acceptance evidence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41648" y="2743200"/>
            <a:ext cx="374904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90688" y="2743200"/>
            <a:ext cx="374904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16052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9232D"/>
                </a:solidFill>
                <a:latin typeface="Aptos"/>
              </a:rPr>
              <a:t>Core design decision: preserve source fidelity while presenting the user with one logical record per BL record ID.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02 •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The real dataset changed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6128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The implementation was refined after inspecting the actual Comics Unmasked facet 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57400" cy="10972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9232D"/>
                </a:solidFill>
                <a:latin typeface="Aptos"/>
              </a:rPr>
              <a:t>records.csv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1783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5A6470"/>
                </a:solidFill>
                <a:latin typeface="Aptos"/>
              </a:rPr>
              <a:t>57,746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828800"/>
            <a:ext cx="2057400" cy="10972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938528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9232D"/>
                </a:solidFill>
                <a:latin typeface="Aptos"/>
              </a:rPr>
              <a:t>names.csv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395728"/>
            <a:ext cx="1783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5A6470"/>
                </a:solidFill>
                <a:latin typeface="Aptos"/>
              </a:rPr>
              <a:t>117,873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1828800"/>
            <a:ext cx="2057400" cy="10972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1938528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9232D"/>
                </a:solidFill>
                <a:latin typeface="Aptos"/>
              </a:rPr>
              <a:t>titles.csv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95728"/>
            <a:ext cx="1783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5A6470"/>
                </a:solidFill>
                <a:latin typeface="Aptos"/>
              </a:rPr>
              <a:t>77,280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828800"/>
            <a:ext cx="2057400" cy="10972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1938528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9232D"/>
                </a:solidFill>
                <a:latin typeface="Aptos"/>
              </a:rPr>
              <a:t>topics.csv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95728"/>
            <a:ext cx="1783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5A6470"/>
                </a:solidFill>
                <a:latin typeface="Aptos"/>
              </a:rPr>
              <a:t>77,919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1828800"/>
            <a:ext cx="2057400" cy="10972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1938528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9232D"/>
                </a:solidFill>
                <a:latin typeface="Aptos"/>
              </a:rPr>
              <a:t>classification.csv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395728"/>
            <a:ext cx="1783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5A6470"/>
                </a:solidFill>
                <a:latin typeface="Aptos"/>
              </a:rPr>
              <a:t>57,844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9232D"/>
                </a:solidFill>
                <a:latin typeface="Aptos"/>
              </a:rPr>
              <a:t>Names view: 117,873 facet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9232D"/>
                </a:solidFill>
                <a:latin typeface="Aptos"/>
              </a:rPr>
              <a:t>→ 54,147 unique BL record IDs
→ 63,726 repeated/facet rows collapsed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154680"/>
            <a:ext cx="45720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264408"/>
            <a:ext cx="4297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WHY THIS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721608"/>
            <a:ext cx="429768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470"/>
                </a:solidFill>
                <a:latin typeface="Aptos"/>
              </a:rPr>
              <a:t>A flat row-by-row display would duplicate logical catalogue entries.
Aggregation became a first-class repository responsibility.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03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Layered architecture keeps change in the right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0789920" cy="56692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58568"/>
            <a:ext cx="10515600" cy="-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CLI / interactive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423160"/>
            <a:ext cx="10058400" cy="56692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2532888"/>
            <a:ext cx="9784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Application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2990088"/>
            <a:ext cx="9784080" cy="-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EncyclopediaService • SearchService • FavouriteService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3154680"/>
            <a:ext cx="9326880" cy="56692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264408"/>
            <a:ext cx="90525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21608"/>
            <a:ext cx="9052559" cy="-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Comic • Contributor • SearchCriteria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83080" y="3886200"/>
            <a:ext cx="8595360" cy="56692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3995928"/>
            <a:ext cx="8321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453128"/>
            <a:ext cx="8321040" cy="-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Strategy • Simple Factory • Repository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617720"/>
            <a:ext cx="7863840" cy="56692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4727448"/>
            <a:ext cx="7589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Data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184648"/>
            <a:ext cx="7589519" cy="-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CSV repositories • aggregation • XML adapter • in-memory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Boundary rule: services depend on abstractions; the CLI does not own business logic; data-source details stay below the repository boundary.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04 • OOP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OOP relationships in the actual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Comic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2926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Immutable catalogue record
Domain operations: tokens(), authors()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38528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Contributor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395728"/>
            <a:ext cx="2926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name + role
Explicit author/writer role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938528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ComicRepository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395728"/>
            <a:ext cx="2926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Abstract contract: all()
CSV / XML / memory implementations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160520"/>
            <a:ext cx="320040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79" y="4270248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SearchStrategy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4727448"/>
            <a:ext cx="29260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Common search(comics, query) contract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160520"/>
            <a:ext cx="320040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270248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9232D"/>
                </a:solidFill>
                <a:latin typeface="Aptos"/>
              </a:rPr>
              <a:t>SearchService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727448"/>
            <a:ext cx="29260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Depends on repository
Delegates to strategy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40480" y="2532888"/>
            <a:ext cx="566928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699248" y="2532888"/>
            <a:ext cx="54864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89320" y="4800600"/>
            <a:ext cx="36576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394960" y="3273552"/>
            <a:ext cx="0" cy="841248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92240" y="3273552"/>
            <a:ext cx="1280160" cy="82296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Most important semantic refinement: preserving contributor role prevents “editor = author” false matches.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05 • SOLID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SOLID is visible in concrete change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685800" cy="65836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830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Single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783080"/>
            <a:ext cx="7589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CSV parsing, aggregation, search, favourites,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06040"/>
            <a:ext cx="685800" cy="65836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1576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60604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Open / Closed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06040"/>
            <a:ext cx="7589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Add a search strategy without rewriting the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29000"/>
            <a:ext cx="685800" cy="65836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3872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290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Liskov Substitution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429000"/>
            <a:ext cx="7589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CSV, XML, memory repositories honour the same contract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685800" cy="65836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25196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Interface Segregation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51960"/>
            <a:ext cx="7589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Repository and Strategy interfaces stay small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685800" cy="658368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8464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07492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Dependency Inversion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074920"/>
            <a:ext cx="7589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Services depend on ComicRepository, not CSV 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Design principle: each abstraction exists because the application has a real variation or testing need.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06 • 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Three patterns/techniques solve three different problems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33375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306324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Behavioral variation
Title • Author • Genre • Year
Same search contract, different algorithms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3375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SIMPLE FACTORY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95728"/>
            <a:ext cx="306324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Creation variation
SearchStrategyFactory maps a search type to a concrete strategy.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828800"/>
            <a:ext cx="33375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3852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95728"/>
            <a:ext cx="306324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Storage variation
CSV, XML and memory sources sit behind ComicRepository.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Technical accuracy matters: the project calls the creation technique a “Simple Factory,” not the formal GoF Factory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07 •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From raw CSV to user-visible result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CSV 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raw strings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48840" y="2743200"/>
            <a:ext cx="228599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2316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Comic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validated domain object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69080" y="2743200"/>
            <a:ext cx="22860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one BL ID record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9320" y="2743200"/>
            <a:ext cx="22860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6364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strategy/service filters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09560" y="2743200"/>
            <a:ext cx="22860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8388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Sort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A–Z or Z–A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829800" y="2743200"/>
            <a:ext cx="228600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104120" y="2057400"/>
            <a:ext cx="1645920" cy="13716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2167128"/>
            <a:ext cx="1371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2624328"/>
            <a:ext cx="1371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CLI /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155448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C5A78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06908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9232D"/>
                </a:solidFill>
                <a:latin typeface="Aptos"/>
              </a:rPr>
              <a:t>Validation happens at the domain boundary; business logic operates on stable objects; presentation receives prepared results.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07492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184648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DATA SAFETY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641848"/>
            <a:ext cx="10058400" cy="118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Identifiers remain strings (including leading zeros); missing values become “missing”; multi-value fields remain semantically separate.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08 •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Search is composable instead of conditional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22860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38528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SearchService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20116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Coordinates repository +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508760"/>
            <a:ext cx="2011680" cy="868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618488"/>
            <a:ext cx="1737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075688"/>
            <a:ext cx="1737360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substring title match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2560320"/>
            <a:ext cx="2011680" cy="868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670048"/>
            <a:ext cx="1737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127248"/>
            <a:ext cx="1737360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explicit author/writer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611880"/>
            <a:ext cx="2011680" cy="868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721608"/>
            <a:ext cx="1737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Genre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178808"/>
            <a:ext cx="1737360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token-aware genre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011680" cy="868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1737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78608"/>
            <a:ext cx="1737360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publication-year 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01168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121408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Future extension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578608"/>
            <a:ext cx="2148840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ISBN, publisher, language, etc. can be added as new strategies or focused service filters.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71800" y="1965960"/>
            <a:ext cx="685800" cy="54864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2514600"/>
            <a:ext cx="685800" cy="45720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71800" y="2514600"/>
            <a:ext cx="685800" cy="1463039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71800" y="2423160"/>
            <a:ext cx="3337560" cy="9144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21040" y="2423160"/>
            <a:ext cx="640080" cy="41148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09 • 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Why aggregation is not just a cosmetic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9232D"/>
                </a:solidFill>
                <a:latin typeface="Aptos"/>
              </a:rPr>
              <a:t>117,873 raw names 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A6470"/>
                </a:solidFill>
                <a:latin typeface="Aptos"/>
              </a:rPr>
              <a:t>− 63,726 repeated/facet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4B825F"/>
                </a:solidFill>
                <a:latin typeface="Aptos"/>
              </a:rPr>
              <a:t>= 54,147 logical catalogue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4846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3852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AggregationRepository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95728"/>
            <a:ext cx="4572000" cy="1901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Groups by BL record ID
Merges repeated metadata values
Preserves variant titles
Preserves Contributor(name, role) pairs
Leaves raw source files untouched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The design follows the data model: the repository adapts a facet-oriented source into a user-oriented domain collection.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10 • FUNCTIONAL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The feature set is broader than the original 12-slide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Genre browse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50008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Fantasy • Horror • Science fiction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83080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92807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Grouping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50008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Author or publication 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24912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Ordering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A–Z / Z–A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724912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Advanced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91840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Author • year • genre • edition • languages • name type • title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66744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76472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Phase 2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33672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Classification • names • titles • topics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66744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76472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User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33672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In-memory search list • reset • favorites persistence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08576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18304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Data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75504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Missing values • multi-value fields • Unicode • leading-zero IDs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608576"/>
            <a:ext cx="5257800" cy="804672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718304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175504"/>
            <a:ext cx="49834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Top 10 queries/results • &gt;100 notification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11 • ACCEPTANCE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Real-data validation matches the required dataset and behavior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42976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records.csv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58568"/>
            <a:ext cx="4023360" cy="-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57,746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59152"/>
            <a:ext cx="42976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names.csv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023360" cy="-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117,873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26664"/>
            <a:ext cx="42976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titles.csv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93592"/>
            <a:ext cx="4023360" cy="-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77,280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94176"/>
            <a:ext cx="42976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03904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topics.csv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61104"/>
            <a:ext cx="4023360" cy="-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77,919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61688"/>
            <a:ext cx="42976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71416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classification.csv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28616"/>
            <a:ext cx="4023360" cy="-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57,844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691640"/>
            <a:ext cx="5577840" cy="29260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1801368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Behavior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258568"/>
            <a:ext cx="53035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Fantasy: 4,793
Horror: 1,929
Science Fiction: 9,356
Author-role search: PASS
Unicode title search: PASS
Missing Publisher / ISBN: PASS
Multi-value display: PASS
A–Z / Z–A ordering: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892040"/>
            <a:ext cx="5303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Aggregation: 117,873 → 54,147 records
Threshold: 101 inclusions → notification triggered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12 •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Testing uses a layered evidence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7432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09928"/>
            <a:ext cx="24688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67128"/>
            <a:ext cx="2468880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Focused domain + strategy assertions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4572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8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4297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35808"/>
            <a:ext cx="4297680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CSV/service boundaries + five official views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6400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447288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CLI / E2E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04487"/>
            <a:ext cx="6126480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User-visible workflows + ordering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06240"/>
            <a:ext cx="841248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315968"/>
            <a:ext cx="8138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Real-data acceptance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8138159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0"/>
                </a:solidFill>
                <a:latin typeface="Aptos"/>
              </a:rPr>
              <a:t>Official dataset + assignment-specific criteria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28800"/>
            <a:ext cx="1828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9232D"/>
                </a:solidFill>
                <a:latin typeface="Aptos"/>
              </a:rPr>
              <a:t>WHY LAYERS?
Fast tests find logic regressions.
Broad tests catch wiring/schema problems.
Real-data checks validate assumptions.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13 •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33 / 33 automated tests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4B825F"/>
                </a:solidFill>
                <a:latin typeface="Aptos"/>
              </a:rPr>
              <a:t>33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A6470"/>
                </a:solidFill>
                <a:latin typeface="Aptos"/>
              </a:rPr>
              <a:t>PASSING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6459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7556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Domain &amp;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128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6459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7556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Search strategies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2128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5603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6700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Repositories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272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25603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700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Aggregation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1272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34747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5844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Phase 2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0416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4747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5844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Real five-view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0416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3891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44988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CLI / E2E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9560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389120"/>
            <a:ext cx="292608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498848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Threshold notification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956048"/>
            <a:ext cx="2651760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PASS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246120"/>
            <a:ext cx="3611880" cy="14630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355848"/>
            <a:ext cx="3337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Testing principle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813048"/>
            <a:ext cx="333756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Coverage is a diagnostic, not proof.
Acceptance assertions tie evidence to actual assignment requirements.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14 •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Simple algorithms, explicit complexity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291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LINEAR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30175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Filtering/search scans the in-memory sequence → O(n)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737360"/>
            <a:ext cx="3291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47088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SORTING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175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Python stable sort → O(n log 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737360"/>
            <a:ext cx="3291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47088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TOKEN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04288"/>
            <a:ext cx="301752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Dictionary/Counter aggregation → O(n) expected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9232D"/>
                </a:solidFill>
                <a:latin typeface="Aptos"/>
              </a:rPr>
              <a:t>Why not a database index? The brief explicitly asks for an in-memory educational application. The current linear approach is deterministic and easy to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17720"/>
            <a:ext cx="10515600" cy="822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27448"/>
            <a:ext cx="10241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9232D"/>
                </a:solidFill>
                <a:latin typeface="Aptos"/>
              </a:rPr>
              <a:t>SCALING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84648"/>
            <a:ext cx="102412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For much larger or frequently changing collections, an indexed database or inverted search structure would become preferable.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15 •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Clean coding improves correctness—not just readability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Naming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500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Explicit domain and service names make intent inspectable.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92807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Small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3500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Parsing, grouping, searching, and presentation have separate contracts.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92807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500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Required ID/title checks happen before domain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93008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Immutable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Frozen dataclasses + tuples reduce accidental mutation.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3832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493008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Dependency injection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9502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Repository abstractions make isolated tests practical.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383280"/>
            <a:ext cx="33832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493008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9232D"/>
                </a:solidFill>
                <a:latin typeface="Aptos"/>
              </a:rPr>
              <a:t>Separation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50208"/>
            <a:ext cx="31089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0"/>
                </a:solidFill>
                <a:latin typeface="Aptos"/>
              </a:rPr>
              <a:t>CLI handles interaction; services handle business rules.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57800"/>
            <a:ext cx="104241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9232D"/>
                </a:solidFill>
                <a:latin typeface="Aptos"/>
              </a:rPr>
              <a:t>Result: algorithms and data structures are easier to reason about because the code mirrors the processing pipeline.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16 • DISCOVERY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Security discovery found no confirmed high-impact vulnerability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33756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Confirmed reportable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306324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A6470"/>
                </a:solidFill>
                <a:latin typeface="Aptos"/>
              </a:rPr>
              <a:t>None established during scoped discovery.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737360"/>
            <a:ext cx="333756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4708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Deferred proof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XML adapter reaches ElementTree.parse; no hostile-XML regression test or network trust boundary was established.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737360"/>
            <a:ext cx="333756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4708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9232D"/>
                </a:solidFill>
                <a:latin typeface="Aptos"/>
              </a:rPr>
              <a:t>Not applicable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04288"/>
            <a:ext cx="306324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0"/>
                </a:solidFill>
                <a:latin typeface="Aptos"/>
              </a:rPr>
              <a:t>No runtime SQL, shell, eval, SSRF, auth/tenant, unsafe deserialization, or dynamic-code sink found.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Important distinction: the XML item is a proof gap, not a confirmed vulnerability. Source code was not changed during the discovery pass.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74920"/>
            <a:ext cx="10515600" cy="7315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84648"/>
            <a:ext cx="10241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9232D"/>
                </a:solidFill>
                <a:latin typeface="Aptos"/>
              </a:rPr>
              <a:t>AUDIT ARTIFACTS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41848"/>
            <a:ext cx="10241280" cy="73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0"/>
                </a:solidFill>
                <a:latin typeface="Aptos"/>
              </a:rPr>
              <a:t>security-discovery/rank_input.jsonl • deep_review_input.jsonl • work_ledger.jsonl • repository_coverage_ledger.md • candidate/dedupe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C5A78"/>
                </a:solidFill>
                <a:latin typeface="Aptos"/>
              </a:rPr>
              <a:t>17 •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232D"/>
                </a:solidFill>
                <a:latin typeface="Aptos"/>
              </a:rPr>
              <a:t>The strongest result is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9232D"/>
                </a:solidFill>
                <a:latin typeface="Aptos"/>
              </a:rPr>
              <a:t>Requirement → design decision → implementation → test →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423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10128"/>
            <a:ext cx="214884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Real facet dataset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3474720"/>
            <a:ext cx="338328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39" y="2743200"/>
            <a:ext cx="2423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8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2852928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3310128"/>
            <a:ext cx="214884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Aggregation + Repository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474720"/>
            <a:ext cx="338327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09359" y="2743200"/>
            <a:ext cx="2423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C5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852928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10128"/>
            <a:ext cx="214884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Immutable domain + services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32519" y="3474720"/>
            <a:ext cx="338329" cy="0"/>
          </a:xfrm>
          <a:prstGeom prst="line">
            <a:avLst/>
          </a:prstGeom>
          <a:ln w="25400">
            <a:solidFill>
              <a:srgbClr val="3C5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98280" y="2743200"/>
            <a:ext cx="2423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B8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852928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9232D"/>
                </a:solidFill>
                <a:latin typeface="Aptos"/>
              </a:rPr>
              <a:t>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3310128"/>
            <a:ext cx="214884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470"/>
                </a:solidFill>
                <a:latin typeface="Aptos"/>
              </a:rPr>
              <a:t>33 tests + real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00600"/>
            <a:ext cx="104241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9232D"/>
                </a:solidFill>
                <a:latin typeface="Aptos"/>
              </a:rPr>
              <a:t>SOLID and patterns are valuable here because they isolate real sources of variation. They also carry an abstraction cost—and the evaluation should say 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0"/>
                </a:solidFill>
                <a:latin typeface="Aptos"/>
              </a:rPr>
              <a:t>Unit 20 • FBZ • Slide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